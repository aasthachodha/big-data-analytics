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8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8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4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9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46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1"/>
          <p:cNvSpPr/>
          <p:nvPr/>
        </p:nvSpPr>
        <p:spPr>
          <a:xfrm>
            <a:off x="0" y="6217920"/>
            <a:ext cx="12191695" cy="640080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95173" y="286450"/>
            <a:ext cx="5219572" cy="1590040"/>
          </a:xfrm>
          <a:prstGeom prst="rect"/>
          <a:noFill/>
        </p:spPr>
        <p:txBody>
          <a:bodyPr wrap="none">
            <a:spAutoFit/>
          </a:bodyPr>
          <a:p>
            <a:pPr>
              <a:spcAft>
                <a:spcPts val="1800"/>
              </a:spcAft>
              <a:defRPr b="1" sz="3400">
                <a:solidFill>
                  <a:srgbClr val="FFFFFF"/>
                </a:solidFill>
                <a:latin typeface="Aptos Display"/>
              </a:defRPr>
            </a:pPr>
            <a:r>
              <a:rPr dirty="0"/>
              <a:t>Big Data Analytics and</a:t>
            </a:r>
            <a:br>
              <a:rPr dirty="0"/>
            </a:br>
            <a:r>
              <a:rPr dirty="0"/>
              <a:t>Machine Learning for Road Accident Severity </a:t>
            </a:r>
            <a:r>
              <a:rPr dirty="0" smtClean="0"/>
              <a:t>Prediction</a:t>
            </a:r>
            <a:endParaRPr dirty="0"/>
          </a:p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 err="1"/>
              <a:t>PySpark</a:t>
            </a:r>
            <a:r>
              <a:rPr dirty="0"/>
              <a:t>  |  Spark </a:t>
            </a:r>
            <a:r>
              <a:rPr dirty="0" err="1"/>
              <a:t>MLlib</a:t>
            </a:r>
            <a:r>
              <a:rPr dirty="0"/>
              <a:t>  |  Random Forest  | 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TextBox 2"/>
          <p:cNvSpPr txBox="1"/>
          <p:nvPr/>
        </p:nvSpPr>
        <p:spPr>
          <a:xfrm>
            <a:off x="594360" y="347472"/>
            <a:ext cx="2144435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1048588" name="TextBox 3"/>
          <p:cNvSpPr txBox="1"/>
          <p:nvPr/>
        </p:nvSpPr>
        <p:spPr>
          <a:xfrm>
            <a:off x="777240" y="1325880"/>
            <a:ext cx="10652760" cy="26441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Road accidents generate complex, multi-dimensional data involving collisions, vehicles, casualties, drivers, roads and environmental conditions.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Large-scale accident records require structured processing to identify reliable patterns and relationships.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This project combines distributed data processing, feature engineering, machine learning and interactive visualization in one analytical workflow.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The final system transforms raw accident records into interpretable insights and accident-severity predictions.</a:t>
            </a:r>
          </a:p>
        </p:txBody>
      </p:sp>
      <p:sp>
        <p:nvSpPr>
          <p:cNvPr id="1048589" name="TextBox 4"/>
          <p:cNvSpPr txBox="1"/>
          <p:nvPr/>
        </p:nvSpPr>
        <p:spPr>
          <a:xfrm>
            <a:off x="640080" y="6446520"/>
            <a:ext cx="38290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1" name="TextBox 2"/>
          <p:cNvSpPr txBox="1"/>
          <p:nvPr/>
        </p:nvSpPr>
        <p:spPr>
          <a:xfrm>
            <a:off x="594360" y="347472"/>
            <a:ext cx="3331290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rPr dirty="0"/>
              <a:t>Problem Statement </a:t>
            </a:r>
          </a:p>
        </p:txBody>
      </p:sp>
      <p:sp>
        <p:nvSpPr>
          <p:cNvPr id="1048592" name="TextBox 3"/>
          <p:cNvSpPr txBox="1"/>
          <p:nvPr/>
        </p:nvSpPr>
        <p:spPr>
          <a:xfrm>
            <a:off x="777240" y="1363203"/>
            <a:ext cx="10652760" cy="26441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Manual or isolated analysis of accident records can make it difficult to identify relationships across multiple datasets.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Accident severity is influenced by interacting factors such as vehicle characteristics, manoeuvres, road conditions, speed, weather and driver attributes.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A scalable analytical approach is required to integrate heterogeneous records and prepare them for machine learning.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The project therefore investigates whether PySpark-based analytics and a Random Forest classifier can support accident-severity analysis and prediction.</a:t>
            </a:r>
          </a:p>
        </p:txBody>
      </p:sp>
      <p:sp>
        <p:nvSpPr>
          <p:cNvPr id="1048593" name="TextBox 4"/>
          <p:cNvSpPr txBox="1"/>
          <p:nvPr/>
        </p:nvSpPr>
        <p:spPr>
          <a:xfrm>
            <a:off x="640080" y="6446520"/>
            <a:ext cx="38290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2"/>
          <p:cNvSpPr txBox="1"/>
          <p:nvPr/>
        </p:nvSpPr>
        <p:spPr>
          <a:xfrm>
            <a:off x="594360" y="347472"/>
            <a:ext cx="3029963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1048596" name="TextBox 3"/>
          <p:cNvSpPr txBox="1"/>
          <p:nvPr/>
        </p:nvSpPr>
        <p:spPr>
          <a:xfrm>
            <a:off x="777240" y="1325880"/>
            <a:ext cx="10652760" cy="23139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Process and integrate collision, vehicle and casualty datasets using PySpark.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Clean inconsistent, missing and invalid data and prepare analysis-ready records.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Engineer temporal, road, vehicle, driver and environmental features.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Perform exploratory analysis to identify meaningful accident patterns.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Train a Random Forest classifier for multi-class accident-severity prediction.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Evaluate model performance and communicate results through Power BI.</a:t>
            </a:r>
          </a:p>
        </p:txBody>
      </p:sp>
      <p:sp>
        <p:nvSpPr>
          <p:cNvPr id="1048597" name="TextBox 4"/>
          <p:cNvSpPr txBox="1"/>
          <p:nvPr/>
        </p:nvSpPr>
        <p:spPr>
          <a:xfrm>
            <a:off x="640080" y="6446520"/>
            <a:ext cx="38290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2"/>
          <p:cNvSpPr txBox="1"/>
          <p:nvPr/>
        </p:nvSpPr>
        <p:spPr>
          <a:xfrm>
            <a:off x="594360" y="347472"/>
            <a:ext cx="3391863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rPr dirty="0"/>
              <a:t>System </a:t>
            </a:r>
            <a:r>
              <a:rPr dirty="0" smtClean="0"/>
              <a:t>Architecture</a:t>
            </a:r>
            <a:endParaRPr dirty="0"/>
          </a:p>
        </p:txBody>
      </p:sp>
      <p:sp>
        <p:nvSpPr>
          <p:cNvPr id="1048600" name="TextBox 3"/>
          <p:cNvSpPr txBox="1"/>
          <p:nvPr/>
        </p:nvSpPr>
        <p:spPr>
          <a:xfrm>
            <a:off x="777240" y="1353872"/>
            <a:ext cx="10652760" cy="23901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Input: Collision + Vehicle + Casualty datasets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Processing: PySpark loading → validation → cleaning → transformation → joining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Feature Layer: temporal, driver, vehicle, road and environmental features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Analytics Layer: descriptive analysis and pattern identification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ML Layer: feature preparation → Random Forest training → prediction → evaluation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Visualization Layer: Power BI dashboard for analytical and machine-learning results</a:t>
            </a:r>
          </a:p>
        </p:txBody>
      </p:sp>
      <p:sp>
        <p:nvSpPr>
          <p:cNvPr id="1048601" name="TextBox 4"/>
          <p:cNvSpPr txBox="1"/>
          <p:nvPr/>
        </p:nvSpPr>
        <p:spPr>
          <a:xfrm>
            <a:off x="640080" y="6446520"/>
            <a:ext cx="38290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3" name="TextBox 2"/>
          <p:cNvSpPr txBox="1"/>
          <p:nvPr/>
        </p:nvSpPr>
        <p:spPr>
          <a:xfrm>
            <a:off x="594360" y="347472"/>
            <a:ext cx="4332854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Datasets &amp; Input Variables</a:t>
            </a:r>
          </a:p>
        </p:txBody>
      </p:sp>
      <p:sp>
        <p:nvSpPr>
          <p:cNvPr id="1048604" name="TextBox 3"/>
          <p:cNvSpPr txBox="1"/>
          <p:nvPr/>
        </p:nvSpPr>
        <p:spPr>
          <a:xfrm>
            <a:off x="777240" y="1325880"/>
            <a:ext cx="10652760" cy="26822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Collision dataset: collision-level information including severity, date/time, location, road and environmental attributes.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Vehicle dataset: vehicle type, manoeuvre, skidding/overturning, driver characteristics, propulsion and vehicle-related attributes.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Casualty dataset: casualty-related records associated with accident events.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Integration combines complementary information to provide a broader representation of each accident.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Key analytical dimensions include severity, vehicle type, road type, speed limit, weather, light, junctions, driver age and casualty count.</a:t>
            </a:r>
          </a:p>
        </p:txBody>
      </p:sp>
      <p:sp>
        <p:nvSpPr>
          <p:cNvPr id="1048605" name="TextBox 4"/>
          <p:cNvSpPr txBox="1"/>
          <p:nvPr/>
        </p:nvSpPr>
        <p:spPr>
          <a:xfrm>
            <a:off x="640080" y="6446520"/>
            <a:ext cx="38290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2"/>
          <p:cNvSpPr txBox="1"/>
          <p:nvPr/>
        </p:nvSpPr>
        <p:spPr>
          <a:xfrm>
            <a:off x="594360" y="347472"/>
            <a:ext cx="5362248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Data Preprocessing with PySpark</a:t>
            </a:r>
          </a:p>
        </p:txBody>
      </p:sp>
      <p:sp>
        <p:nvSpPr>
          <p:cNvPr id="1048608" name="TextBox 3"/>
          <p:cNvSpPr txBox="1"/>
          <p:nvPr/>
        </p:nvSpPr>
        <p:spPr>
          <a:xfrm>
            <a:off x="777240" y="1325880"/>
            <a:ext cx="10652760" cy="23139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Loaded the datasets as Spark DataFrames and inspected schema, nulls and inconsistent values.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Handled invalid values and cleaned coordinate-related records before analysis.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Converted fields into suitable data types for downstream processing.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Joined collision, vehicle and casualty information to create the analytical dataset.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Used Spark transformations to derive consistent analytical fields while keeping processing scalable.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Prepared the final dataset for exploratory analysis and machine-learning workflows.</a:t>
            </a:r>
          </a:p>
        </p:txBody>
      </p:sp>
      <p:sp>
        <p:nvSpPr>
          <p:cNvPr id="1048609" name="TextBox 4"/>
          <p:cNvSpPr txBox="1"/>
          <p:nvPr/>
        </p:nvSpPr>
        <p:spPr>
          <a:xfrm>
            <a:off x="640080" y="6446520"/>
            <a:ext cx="38290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1" name="TextBox 2"/>
          <p:cNvSpPr txBox="1"/>
          <p:nvPr/>
        </p:nvSpPr>
        <p:spPr>
          <a:xfrm>
            <a:off x="594360" y="347472"/>
            <a:ext cx="3394790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Feature Engineering</a:t>
            </a:r>
          </a:p>
        </p:txBody>
      </p:sp>
      <p:sp>
        <p:nvSpPr>
          <p:cNvPr id="1048612" name="TextBox 3"/>
          <p:cNvSpPr txBox="1"/>
          <p:nvPr/>
        </p:nvSpPr>
        <p:spPr>
          <a:xfrm>
            <a:off x="777240" y="1325880"/>
            <a:ext cx="10652760" cy="24790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Temporal features: accident date, month, day, hour, day of week, time period and hour category.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Behavioral/context features: weekend flag, speed category and driver age group.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Vehicle features: vehicle type, vehicle manoeuvre, skidding and overturning, propulsion and vehicle age.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Road/environment features: road type, speed limit, junction detail/control, light, weather and road surface conditions.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Aggregate features: number of vehicles and number of casualties.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Target variable: accident severity represented as categorical severity labels.</a:t>
            </a:r>
          </a:p>
        </p:txBody>
      </p:sp>
      <p:sp>
        <p:nvSpPr>
          <p:cNvPr id="1048613" name="TextBox 4"/>
          <p:cNvSpPr txBox="1"/>
          <p:nvPr/>
        </p:nvSpPr>
        <p:spPr>
          <a:xfrm>
            <a:off x="640080" y="6446520"/>
            <a:ext cx="38290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2"/>
          <p:cNvSpPr txBox="1"/>
          <p:nvPr/>
        </p:nvSpPr>
        <p:spPr>
          <a:xfrm>
            <a:off x="594360" y="347472"/>
            <a:ext cx="5114499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Machine Learning Methodology</a:t>
            </a:r>
          </a:p>
        </p:txBody>
      </p:sp>
      <p:sp>
        <p:nvSpPr>
          <p:cNvPr id="1048616" name="TextBox 3"/>
          <p:cNvSpPr txBox="1"/>
          <p:nvPr/>
        </p:nvSpPr>
        <p:spPr>
          <a:xfrm>
            <a:off x="777240" y="1325880"/>
            <a:ext cx="10652760" cy="25679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Model selected: Random Forest Classifier from the Spark MLlib workflow.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Problem type: multi-class classification of accident severity.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Input: engineered accident, vehicle, driver, road and environmental features.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Categorical and numerical features were prepared into a machine-learning feature vector.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The dataset was divided into training and testing portions.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The trained ensemble model generated severity predictions that were exported for evaluation and Power BI visualization.</a:t>
            </a:r>
          </a:p>
        </p:txBody>
      </p:sp>
      <p:sp>
        <p:nvSpPr>
          <p:cNvPr id="1048617" name="TextBox 4"/>
          <p:cNvSpPr txBox="1"/>
          <p:nvPr/>
        </p:nvSpPr>
        <p:spPr>
          <a:xfrm>
            <a:off x="640080" y="6446520"/>
            <a:ext cx="38290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9" name="TextBox 2"/>
          <p:cNvSpPr txBox="1"/>
          <p:nvPr/>
        </p:nvSpPr>
        <p:spPr>
          <a:xfrm>
            <a:off x="594360" y="347472"/>
            <a:ext cx="3257521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Model Performance</a:t>
            </a:r>
          </a:p>
        </p:txBody>
      </p:sp>
      <p:sp>
        <p:nvSpPr>
          <p:cNvPr id="1048620" name="TextBox 3"/>
          <p:cNvSpPr txBox="1"/>
          <p:nvPr/>
        </p:nvSpPr>
        <p:spPr>
          <a:xfrm>
            <a:off x="777240" y="1325880"/>
            <a:ext cx="10652760" cy="26568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Accuracy: 74.64%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F1 Score: 63.99%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Accuracy summarizes the proportion of correctly classified observations.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F1 Score provides a balanced view of precision and recall across classification outcomes.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The results indicate that the selected feature set provides useful predictive information while leaving scope for further model improvement.</a:t>
            </a:r>
          </a:p>
          <a:p>
            <a:pPr>
              <a:spcAft>
                <a:spcPts val="11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Performance should be interpreted in the context of the historical dataset and selected features.</a:t>
            </a:r>
          </a:p>
        </p:txBody>
      </p:sp>
      <p:sp>
        <p:nvSpPr>
          <p:cNvPr id="1048621" name="TextBox 4"/>
          <p:cNvSpPr txBox="1"/>
          <p:nvPr/>
        </p:nvSpPr>
        <p:spPr>
          <a:xfrm>
            <a:off x="640080" y="6446520"/>
            <a:ext cx="38925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3" name="TextBox 2"/>
          <p:cNvSpPr txBox="1"/>
          <p:nvPr/>
        </p:nvSpPr>
        <p:spPr>
          <a:xfrm>
            <a:off x="594360" y="347472"/>
            <a:ext cx="5743794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Random Forest Feature Importance</a:t>
            </a:r>
          </a:p>
        </p:txBody>
      </p:sp>
      <p:sp>
        <p:nvSpPr>
          <p:cNvPr id="1048624" name="TextBox 3"/>
          <p:cNvSpPr txBox="1"/>
          <p:nvPr/>
        </p:nvSpPr>
        <p:spPr>
          <a:xfrm>
            <a:off x="777240" y="1325880"/>
            <a:ext cx="10652760" cy="37617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Vehicle type — 0.3412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Vehicle manoeuvre — 0.1755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Skidding and overturning — 0.0987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Trunk road flag — 0.0609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Number of casualties — 0.0543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Junction control — 0.0396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Number of vehicles — 0.0382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Sex of driver — 0.0328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Speed limit — 0.0315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Urban or rural area — 0.0248</a:t>
            </a:r>
          </a:p>
        </p:txBody>
      </p:sp>
      <p:sp>
        <p:nvSpPr>
          <p:cNvPr id="1048625" name="TextBox 4"/>
          <p:cNvSpPr txBox="1"/>
          <p:nvPr/>
        </p:nvSpPr>
        <p:spPr>
          <a:xfrm>
            <a:off x="640080" y="6446520"/>
            <a:ext cx="38925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2"/>
          <p:cNvSpPr txBox="1"/>
          <p:nvPr/>
        </p:nvSpPr>
        <p:spPr>
          <a:xfrm>
            <a:off x="594360" y="347472"/>
            <a:ext cx="3338781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1048628" name="TextBox 3"/>
          <p:cNvSpPr txBox="1"/>
          <p:nvPr/>
        </p:nvSpPr>
        <p:spPr>
          <a:xfrm>
            <a:off x="777240" y="1325880"/>
            <a:ext cx="10652760" cy="26822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Page 1 — Accident Overview: overall accident volume and key temporal, severity, speed and driver-age patterns.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Page 2 — Environmental &amp; Road Factors: weather, road surface, light, road type, urban/rural and junction analysis.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Interactive slicers allow filtering by Year, Severity and Day Type.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Page 3 — Machine Learning Results: model accuracy, F1 score, actual versus predicted severity and feature importance.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Power BI provides an accessible interface for exploring the processed analytical results.</a:t>
            </a:r>
          </a:p>
        </p:txBody>
      </p:sp>
      <p:sp>
        <p:nvSpPr>
          <p:cNvPr id="1048629" name="TextBox 4"/>
          <p:cNvSpPr txBox="1"/>
          <p:nvPr/>
        </p:nvSpPr>
        <p:spPr>
          <a:xfrm>
            <a:off x="640080" y="6446520"/>
            <a:ext cx="3892571" cy="218441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1" name="TextBox 2"/>
          <p:cNvSpPr txBox="1"/>
          <p:nvPr/>
        </p:nvSpPr>
        <p:spPr>
          <a:xfrm>
            <a:off x="594360" y="347472"/>
            <a:ext cx="10972800" cy="64008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1048632" name="TextBox 3"/>
          <p:cNvSpPr txBox="1"/>
          <p:nvPr/>
        </p:nvSpPr>
        <p:spPr>
          <a:xfrm>
            <a:off x="777240" y="1325880"/>
            <a:ext cx="10652760" cy="502920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Vehicle-related characteristics are prominent among the most influential model features.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Vehicle type has the highest feature importance in the trained Random Forest model.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Vehicle manoeuvre and skidding/overturning also contribute substantially to model decisions.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Accident analysis can be segmented using temporal, environmental, road and driver-related dimensions.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The Power BI dashboard converts technical processing and model outputs into interpretable views for analysis.</a:t>
            </a:r>
          </a:p>
        </p:txBody>
      </p:sp>
      <p:sp>
        <p:nvSpPr>
          <p:cNvPr id="1048633" name="TextBox 4"/>
          <p:cNvSpPr txBox="1"/>
          <p:nvPr/>
        </p:nvSpPr>
        <p:spPr>
          <a:xfrm>
            <a:off x="640080" y="6446520"/>
            <a:ext cx="10881360" cy="228600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2"/>
          <p:cNvSpPr txBox="1"/>
          <p:nvPr/>
        </p:nvSpPr>
        <p:spPr>
          <a:xfrm>
            <a:off x="594360" y="347472"/>
            <a:ext cx="10972800" cy="64008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Applications, Limitations &amp; Future Scope</a:t>
            </a:r>
          </a:p>
        </p:txBody>
      </p:sp>
      <p:sp>
        <p:nvSpPr>
          <p:cNvPr id="1048636" name="TextBox 3"/>
          <p:cNvSpPr txBox="1"/>
          <p:nvPr/>
        </p:nvSpPr>
        <p:spPr>
          <a:xfrm>
            <a:off x="640080" y="1325880"/>
            <a:ext cx="10652760" cy="3436838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/>
              <a:t>• </a:t>
            </a:r>
            <a:r>
              <a:rPr dirty="0" u="sng"/>
              <a:t>Applications</a:t>
            </a:r>
            <a:r>
              <a:rPr dirty="0" smtClean="0"/>
              <a:t>:</a:t>
            </a:r>
            <a:endParaRPr dirty="0" lang="en-US" smtClean="0"/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 smtClean="0"/>
              <a:t> </a:t>
            </a:r>
            <a:r>
              <a:rPr dirty="0" lang="en-US" smtClean="0"/>
              <a:t>- </a:t>
            </a:r>
            <a:r>
              <a:rPr dirty="0" smtClean="0"/>
              <a:t>road-safety </a:t>
            </a:r>
            <a:r>
              <a:rPr dirty="0"/>
              <a:t>analysis, accident-risk assessment, safety planning and data-driven decision support.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/>
              <a:t>• </a:t>
            </a:r>
            <a:r>
              <a:rPr dirty="0" u="sng"/>
              <a:t>Limitation</a:t>
            </a:r>
            <a:r>
              <a:rPr dirty="0"/>
              <a:t>: </a:t>
            </a:r>
            <a:endParaRPr dirty="0" lang="en-US" smtClean="0"/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 lang="en-US" smtClean="0"/>
              <a:t> - </a:t>
            </a:r>
            <a:r>
              <a:rPr dirty="0" smtClean="0"/>
              <a:t>model </a:t>
            </a:r>
            <a:r>
              <a:rPr dirty="0"/>
              <a:t>performance depends on the coverage, quality and representation of the historical dataset.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 lang="en-US"/>
              <a:t> </a:t>
            </a:r>
            <a:r>
              <a:rPr dirty="0" lang="en-US" smtClean="0"/>
              <a:t>- </a:t>
            </a:r>
            <a:r>
              <a:rPr dirty="0" smtClean="0"/>
              <a:t>historical </a:t>
            </a:r>
            <a:r>
              <a:rPr dirty="0"/>
              <a:t>patterns do not automatically represent real-time traffic conditions.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/>
              <a:t>• </a:t>
            </a:r>
            <a:r>
              <a:rPr dirty="0" u="sng"/>
              <a:t>Future scope</a:t>
            </a:r>
            <a:r>
              <a:rPr dirty="0" smtClean="0"/>
              <a:t>:</a:t>
            </a:r>
            <a:endParaRPr dirty="0" lang="en-US" smtClean="0"/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 smtClean="0"/>
              <a:t> </a:t>
            </a:r>
            <a:r>
              <a:rPr dirty="0" lang="en-US" smtClean="0"/>
              <a:t>- </a:t>
            </a:r>
            <a:r>
              <a:rPr dirty="0" smtClean="0"/>
              <a:t>compare </a:t>
            </a:r>
            <a:r>
              <a:rPr dirty="0"/>
              <a:t>additional ML algorithms and perform </a:t>
            </a:r>
            <a:r>
              <a:rPr dirty="0" err="1"/>
              <a:t>hyperparameter</a:t>
            </a:r>
            <a:r>
              <a:rPr dirty="0"/>
              <a:t> optimization.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 lang="en-US"/>
              <a:t> </a:t>
            </a:r>
            <a:r>
              <a:rPr dirty="0" lang="en-US" smtClean="0"/>
              <a:t>- </a:t>
            </a:r>
            <a:r>
              <a:rPr dirty="0" smtClean="0"/>
              <a:t>integrate </a:t>
            </a:r>
            <a:r>
              <a:rPr dirty="0"/>
              <a:t>live traffic/weather data, expand datasets and explore real-time risk prediction.</a:t>
            </a:r>
          </a:p>
          <a:p>
            <a:pPr>
              <a:spcAft>
                <a:spcPts val="11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rPr dirty="0" lang="en-US"/>
              <a:t> </a:t>
            </a:r>
            <a:r>
              <a:rPr dirty="0" lang="en-US" smtClean="0"/>
              <a:t>- </a:t>
            </a:r>
            <a:r>
              <a:rPr dirty="0" smtClean="0"/>
              <a:t>deploy </a:t>
            </a:r>
            <a:r>
              <a:rPr dirty="0"/>
              <a:t>the analytical pipeline as a web-based decision-support application.</a:t>
            </a:r>
          </a:p>
        </p:txBody>
      </p:sp>
      <p:sp>
        <p:nvSpPr>
          <p:cNvPr id="1048637" name="TextBox 4"/>
          <p:cNvSpPr txBox="1"/>
          <p:nvPr/>
        </p:nvSpPr>
        <p:spPr>
          <a:xfrm>
            <a:off x="640080" y="6446520"/>
            <a:ext cx="10881360" cy="228600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Rectangle 1"/>
          <p:cNvSpPr/>
          <p:nvPr/>
        </p:nvSpPr>
        <p:spPr>
          <a:xfrm>
            <a:off x="0" y="0"/>
            <a:ext cx="12191695" cy="109728"/>
          </a:xfrm>
          <a:prstGeom prst="rect"/>
          <a:solidFill>
            <a:srgbClr val="2F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9" name="TextBox 2"/>
          <p:cNvSpPr txBox="1"/>
          <p:nvPr/>
        </p:nvSpPr>
        <p:spPr>
          <a:xfrm>
            <a:off x="594360" y="347472"/>
            <a:ext cx="10972800" cy="64008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92A46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048640" name="TextBox 3"/>
          <p:cNvSpPr txBox="1"/>
          <p:nvPr/>
        </p:nvSpPr>
        <p:spPr>
          <a:xfrm>
            <a:off x="777240" y="1325880"/>
            <a:ext cx="10652760" cy="502920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The project establishes an end-to-end workflow from raw accident data to analytical insights and machine-learning predictions.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PySpark provided a structured approach for cleaning, integrating and transforming multiple accident datasets.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Random Forest achieved 74.64% accuracy and a 63.99% F1 score for accident-severity classification.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Feature-importance analysis identified vehicle type, vehicle manoeuvre and skidding/overturning among the strongest model features.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Power BI provided an interactive dashboard for communicating both descriptive analytics and ML results.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The combined approach demonstrates the value of Big Data processing and Machine Learning for road-accident analytics.</a:t>
            </a:r>
          </a:p>
        </p:txBody>
      </p:sp>
      <p:sp>
        <p:nvSpPr>
          <p:cNvPr id="1048641" name="TextBox 4"/>
          <p:cNvSpPr txBox="1"/>
          <p:nvPr/>
        </p:nvSpPr>
        <p:spPr>
          <a:xfrm>
            <a:off x="640080" y="6446520"/>
            <a:ext cx="10881360" cy="228600"/>
          </a:xfrm>
          <a:prstGeom prst="rect"/>
          <a:noFill/>
        </p:spPr>
        <p:txBody>
          <a:bodyPr wrap="none">
            <a:spAutoFit/>
          </a:bodyPr>
          <a:p>
            <a:pPr>
              <a:defRPr sz="900">
                <a:solidFill>
                  <a:srgbClr val="5F6976"/>
                </a:solidFill>
                <a:latin typeface="Aptos"/>
              </a:defRPr>
            </a:pPr>
            <a:r>
              <a:t>Road Accident Severity Prediction  |  MCA Project                                         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SM-S711B</dc:creator>
  <cp:lastModifiedBy>Aastha Chodha</cp:lastModifiedBy>
  <dcterms:created xsi:type="dcterms:W3CDTF">2013-01-26T22:14:16Z</dcterms:created>
  <dcterms:modified xsi:type="dcterms:W3CDTF">2026-09-12T10:46:16Z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d31fc74874ef46e7a69c7f9423675656_23</vt:lpwstr>
  </property>
</Properties>
</file>